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2" r:id="rId7"/>
    <p:sldId id="264" r:id="rId8"/>
    <p:sldId id="259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14"/>
      </p:cViewPr>
      <p:guideLst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lantuml.com/plantuml/uml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занятие №8: Диаграммы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практике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 1: Повторение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 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7DF5AD9B-DFE3-8609-2FBA-764FC0552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70309"/>
              </p:ext>
            </p:extLst>
          </p:nvPr>
        </p:nvGraphicFramePr>
        <p:xfrm>
          <a:off x="0" y="523220"/>
          <a:ext cx="12192000" cy="2641600"/>
        </p:xfrm>
        <a:graphic>
          <a:graphicData uri="http://schemas.openxmlformats.org/drawingml/2006/table">
            <a:tbl>
              <a:tblPr/>
              <a:tblGrid>
                <a:gridCol w="6096000">
                  <a:extLst>
                    <a:ext uri="{9D8B030D-6E8A-4147-A177-3AD203B41FA5}">
                      <a16:colId xmlns:a16="http://schemas.microsoft.com/office/drawing/2014/main" val="1418482147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289807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Что показано?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Ответ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127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Прямоугольники со стрелками (▷, ◇, ◆)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509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Объекты с линиями жизни и стрелками вниз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28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Круги с переходами (состояние → событие → состояние)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47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Прямоугольники с закруглёнными углами и стрелками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73370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D1E254D-3A89-A393-6F5C-18E5D990FF0E}"/>
              </a:ext>
            </a:extLst>
          </p:cNvPr>
          <p:cNvSpPr txBox="1"/>
          <p:nvPr/>
        </p:nvSpPr>
        <p:spPr>
          <a:xfrm>
            <a:off x="0" y="3369853"/>
            <a:ext cx="6160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1.2. Краткое повторение синтаксиса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679787-ABE9-A35C-AD6A-EF5F70A8B67D}"/>
              </a:ext>
            </a:extLst>
          </p:cNvPr>
          <p:cNvSpPr txBox="1"/>
          <p:nvPr/>
        </p:nvSpPr>
        <p:spPr>
          <a:xfrm>
            <a:off x="0" y="3815302"/>
            <a:ext cx="5835192" cy="1812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Диаграмма классов: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Menlo"/>
              </a:rPr>
              <a:t>--|&gt;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наследование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Menlo"/>
              </a:rPr>
              <a:t>*--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композиция (сильная связь, часть не может существовать без целого)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Menlo"/>
              </a:rPr>
              <a:t>o--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агрегация (слабая связь)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Menlo"/>
              </a:rPr>
              <a:t>--&gt;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ассоциация (простая связь)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F0DC03-A111-649C-4A66-82576AD97A82}"/>
              </a:ext>
            </a:extLst>
          </p:cNvPr>
          <p:cNvSpPr txBox="1"/>
          <p:nvPr/>
        </p:nvSpPr>
        <p:spPr>
          <a:xfrm>
            <a:off x="0" y="5546102"/>
            <a:ext cx="6160416" cy="1311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Диаграмма последовательности: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Menlo"/>
              </a:rPr>
              <a:t>-&gt;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синхронный вызов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Menlo"/>
              </a:rPr>
              <a:t>--&gt;&gt;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асинхронный вызов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F1115"/>
                </a:solidFill>
                <a:effectLst/>
                <a:latin typeface="Menlo"/>
              </a:rPr>
              <a:t>activate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/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Menlo"/>
              </a:rPr>
              <a:t>deactivate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активация объекта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2C43E2-CA53-20D7-F205-FC9D3660C79F}"/>
              </a:ext>
            </a:extLst>
          </p:cNvPr>
          <p:cNvSpPr txBox="1"/>
          <p:nvPr/>
        </p:nvSpPr>
        <p:spPr>
          <a:xfrm>
            <a:off x="6096000" y="4371731"/>
            <a:ext cx="5913748" cy="177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Диаграмма состояний: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Menlo"/>
              </a:rPr>
              <a:t>[*]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начальное состояние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Menlo"/>
              </a:rPr>
              <a:t>--&gt;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переход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F1115"/>
                </a:solidFill>
                <a:effectLst/>
                <a:latin typeface="Menlo"/>
              </a:rPr>
              <a:t>state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определение состояния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A589-B760-70EA-46E7-F404A9AD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6DE9C92-78E0-9057-B386-30037CDF9A46}"/>
              </a:ext>
            </a:extLst>
          </p:cNvPr>
          <p:cNvSpPr txBox="1"/>
          <p:nvPr/>
        </p:nvSpPr>
        <p:spPr>
          <a:xfrm>
            <a:off x="0" y="0"/>
            <a:ext cx="6094428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2: </a:t>
            </a:r>
            <a:r>
              <a:rPr lang="ru-RU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PlantUML</a:t>
            </a: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диаграммы как код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71EE71-27CF-C3E3-85F0-CE1CA7C8A1DE}"/>
              </a:ext>
            </a:extLst>
          </p:cNvPr>
          <p:cNvSpPr txBox="1"/>
          <p:nvPr/>
        </p:nvSpPr>
        <p:spPr>
          <a:xfrm>
            <a:off x="-23568" y="436000"/>
            <a:ext cx="6117996" cy="358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@startuml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class Order {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- String id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- double amount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- String status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+ void pay()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+ void cancel()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}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class Customer {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- String name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- String email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}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Order "1" --&gt; "1" Customer : belongs to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@enduml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0DE2B5-4D5A-C41A-23D6-71DD68D510F8}"/>
              </a:ext>
            </a:extLst>
          </p:cNvPr>
          <p:cNvSpPr txBox="1"/>
          <p:nvPr/>
        </p:nvSpPr>
        <p:spPr>
          <a:xfrm>
            <a:off x="0" y="4022879"/>
            <a:ext cx="6132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2.2. Инструменты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A6401F-49A1-64A1-B588-6FDA35B04BD5}"/>
              </a:ext>
            </a:extLst>
          </p:cNvPr>
          <p:cNvSpPr txBox="1"/>
          <p:nvPr/>
        </p:nvSpPr>
        <p:spPr>
          <a:xfrm>
            <a:off x="0" y="4527909"/>
            <a:ext cx="1219200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Онлайн: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plantuml.com/</a:t>
            </a:r>
            <a:r>
              <a:rPr lang="en-US" b="0" i="0" u="none" strike="noStrike" dirty="0" err="1">
                <a:solidFill>
                  <a:srgbClr val="3964FE"/>
                </a:solidFill>
                <a:effectLst/>
                <a:latin typeface="quote-cjk-patch"/>
                <a:hlinkClick r:id="rId2"/>
              </a:rPr>
              <a:t>plantuml</a:t>
            </a:r>
            <a:r>
              <a:rPr lang="en-US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/</a:t>
            </a:r>
            <a:r>
              <a:rPr lang="en-US" b="0" i="0" u="none" strike="noStrike" dirty="0" err="1">
                <a:solidFill>
                  <a:srgbClr val="3964FE"/>
                </a:solidFill>
                <a:effectLst/>
                <a:latin typeface="quote-cjk-patch"/>
                <a:hlinkClick r:id="rId2"/>
              </a:rPr>
              <a:t>uml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—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вводишь код, получаешь картинку.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VS Code: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плагин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PlantUML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→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Alt+D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предпросмотра.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IntelliJ IDEA: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плагин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PlantUML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integration.</a:t>
            </a:r>
          </a:p>
          <a:p>
            <a:pPr>
              <a:buNone/>
            </a:pP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532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B1F85-E3EA-34F8-323E-59D8BFC7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CF7266B-FAED-AF59-4F61-A82A6C6B9F33}"/>
              </a:ext>
            </a:extLst>
          </p:cNvPr>
          <p:cNvSpPr txBox="1"/>
          <p:nvPr/>
        </p:nvSpPr>
        <p:spPr>
          <a:xfrm>
            <a:off x="0" y="0"/>
            <a:ext cx="12192000" cy="5790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3: Задание — Диаграмма классов (20 минут)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3.1. Постановка задачи (2 минуты)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диаграмму классов для системы «Интернет-магазин» с сущностями: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 (id, name, price, category)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 (id, date, status, total)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OrderItem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(quantity,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priceAtPurchase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 (id, name, email, phone)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Cart (items, total)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Связи: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 → Order (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один ко многим)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 → 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OrderItem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композиция: без заказа нет позиций)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Cart → 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OrderItem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агрегация: позиции могут существовать без корзины?)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C446A4-1B18-3F59-76B1-F675EEE288F2}"/>
              </a:ext>
            </a:extLst>
          </p:cNvPr>
          <p:cNvSpPr txBox="1"/>
          <p:nvPr/>
        </p:nvSpPr>
        <p:spPr>
          <a:xfrm>
            <a:off x="0" y="5790047"/>
            <a:ext cx="61179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3.2. Самостоятельная работа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Пишем код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PlantUML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-код.</a:t>
            </a:r>
          </a:p>
        </p:txBody>
      </p:sp>
    </p:spTree>
    <p:extLst>
      <p:ext uri="{BB962C8B-B14F-4D97-AF65-F5344CB8AC3E}">
        <p14:creationId xmlns:p14="http://schemas.microsoft.com/office/powerpoint/2010/main" val="49135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572A2-B3FC-AD41-B2A3-667936EF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701F3EC-BBC6-C90D-7907-F34D9569FC5C}"/>
              </a:ext>
            </a:extLst>
          </p:cNvPr>
          <p:cNvSpPr txBox="1"/>
          <p:nvPr/>
        </p:nvSpPr>
        <p:spPr>
          <a:xfrm>
            <a:off x="0" y="0"/>
            <a:ext cx="12192000" cy="520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4: Задание — Диаграмма последовательности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4.1. Постановка задачи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диаграмму последовательности для сценария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«Оформление заказа»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нажимает «Оформить заказ»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проверяет наличие товаров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Создаёт заказ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Обрабатывает платеж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Отправляет подтверждение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User,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Cart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OrderService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PaymentService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InventoryService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EmailService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4.2. Самостоятельная работа (12 минут)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540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DAC92-6543-87B0-24D5-531C79898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520B904-0F68-0D67-B659-39626791C306}"/>
              </a:ext>
            </a:extLst>
          </p:cNvPr>
          <p:cNvSpPr txBox="1"/>
          <p:nvPr/>
        </p:nvSpPr>
        <p:spPr>
          <a:xfrm>
            <a:off x="1572" y="0"/>
            <a:ext cx="12190428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5: Задание — Диаграмма состояний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5.1. Постановка задачи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диаграмму состояний для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статусов заказа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Начальное состояние: 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Переходы: 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pay() → PAID, cancel() → CANCELLED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 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PAID: ship() → SHIPPED, cancel() → REFUNDED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 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SHIPPED: deliver() → DELIVERED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 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DELIVERED / CANCELLED / REFUNDED —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финальные состояния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5.2. Самостоятельная работа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100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0AC89-289C-F34F-ADE3-75447F627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B5F4BF-D127-ECCB-C437-EDC23717B7C9}"/>
              </a:ext>
            </a:extLst>
          </p:cNvPr>
          <p:cNvSpPr txBox="1"/>
          <p:nvPr/>
        </p:nvSpPr>
        <p:spPr>
          <a:xfrm>
            <a:off x="0" y="0"/>
            <a:ext cx="1219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 6: Презентация</a:t>
            </a:r>
          </a:p>
          <a:p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Команды показывают одну из своих диаграмм.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Обсуждение: «Как диаграммы помогают в разработке?»</a:t>
            </a:r>
          </a:p>
        </p:txBody>
      </p:sp>
    </p:spTree>
    <p:extLst>
      <p:ext uri="{BB962C8B-B14F-4D97-AF65-F5344CB8AC3E}">
        <p14:creationId xmlns:p14="http://schemas.microsoft.com/office/powerpoint/2010/main" val="2859818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13AE6-DB2D-CF0D-B1D8-2D2EFA2E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C7218D4-09D8-5AB1-83EE-B2B8AD5F04E1}"/>
              </a:ext>
            </a:extLst>
          </p:cNvPr>
          <p:cNvSpPr txBox="1"/>
          <p:nvPr/>
        </p:nvSpPr>
        <p:spPr>
          <a:xfrm>
            <a:off x="1572" y="0"/>
            <a:ext cx="121904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Домашнее задание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Добавить в репозиторий проекта все три диаграммы в формате .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puml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 диаграммы последовательности добавить альтернативный сценарий (ошибка оплаты).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Настроить автоматическую генерацию PNG из .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puml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(через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10934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6240</TotalTime>
  <Words>549</Words>
  <Application>Microsoft Office PowerPoint</Application>
  <PresentationFormat>Широкоэкранный</PresentationFormat>
  <Paragraphs>95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Menlo</vt:lpstr>
      <vt:lpstr>quote-cjk-patch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31</cp:revision>
  <dcterms:created xsi:type="dcterms:W3CDTF">2025-09-19T18:20:34Z</dcterms:created>
  <dcterms:modified xsi:type="dcterms:W3CDTF">2026-04-10T18:25:34Z</dcterms:modified>
</cp:coreProperties>
</file>