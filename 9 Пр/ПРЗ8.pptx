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2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3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xmlns="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№8: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Продвинутые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Stories и Acceptance Criteria в Gherkin.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B05BA81-1097-457A-493F-2E5B52C3C659}"/>
              </a:ext>
            </a:extLst>
          </p:cNvPr>
          <p:cNvSpPr txBox="1"/>
          <p:nvPr/>
        </p:nvSpPr>
        <p:spPr>
          <a:xfrm>
            <a:off x="0" y="0"/>
            <a:ext cx="1219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1: Разбор ошибок и повторение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Разбор типичных ошибок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показывает 3 плохие User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просит найти ошибки: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81A45D-8258-FD9C-0292-BFF27FB5BA59}"/>
              </a:ext>
            </a:extLst>
          </p:cNvPr>
          <p:cNvSpPr txBox="1"/>
          <p:nvPr/>
        </p:nvSpPr>
        <p:spPr>
          <a:xfrm>
            <a:off x="-1" y="4143063"/>
            <a:ext cx="12191999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Разбор: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«Удобная» — не измеримо. Нужно: «Пользователь оформляет заказ за 3 клика».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— разбить на две независимые истории.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без цели — добавить ценность: «чтобы перейти к оформлению».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4CEF499-25E9-7D69-96DD-A02D8CD589E6}"/>
              </a:ext>
            </a:extLst>
          </p:cNvPr>
          <p:cNvSpPr txBox="1"/>
          <p:nvPr/>
        </p:nvSpPr>
        <p:spPr>
          <a:xfrm>
            <a:off x="-1" y="1722003"/>
            <a:ext cx="12192001" cy="202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gherkin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ПЛОХО 1: Слишком общая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"Система должна быть удобной"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ПЛОХО 2: Не INVEST (зависит от другой истории)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"Пользователь может оплатить заказ, если добавил товар в корзину"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ПЛОХО 3: Нет ценности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"Пользователь может нажать кнопку"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FE3423-3E18-52D1-2880-809C1E9430A4}"/>
              </a:ext>
            </a:extLst>
          </p:cNvPr>
          <p:cNvSpPr txBox="1"/>
          <p:nvPr/>
        </p:nvSpPr>
        <p:spPr>
          <a:xfrm>
            <a:off x="1572" y="0"/>
            <a:ext cx="121904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1.2. Повторение INVEST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студент по очереди называет одну букву и объясняет: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2E41EBC7-E373-9843-B69E-EC3BFCBF5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635566"/>
              </p:ext>
            </p:extLst>
          </p:nvPr>
        </p:nvGraphicFramePr>
        <p:xfrm>
          <a:off x="0" y="965993"/>
          <a:ext cx="12190428" cy="4430367"/>
        </p:xfrm>
        <a:graphic>
          <a:graphicData uri="http://schemas.openxmlformats.org/drawingml/2006/table">
            <a:tbl>
              <a:tblPr/>
              <a:tblGrid>
                <a:gridCol w="4063476">
                  <a:extLst>
                    <a:ext uri="{9D8B030D-6E8A-4147-A177-3AD203B41FA5}">
                      <a16:colId xmlns:a16="http://schemas.microsoft.com/office/drawing/2014/main" xmlns="" val="3011729357"/>
                    </a:ext>
                  </a:extLst>
                </a:gridCol>
                <a:gridCol w="4063476">
                  <a:extLst>
                    <a:ext uri="{9D8B030D-6E8A-4147-A177-3AD203B41FA5}">
                      <a16:colId xmlns:a16="http://schemas.microsoft.com/office/drawing/2014/main" xmlns="" val="3831264776"/>
                    </a:ext>
                  </a:extLst>
                </a:gridCol>
                <a:gridCol w="4063476">
                  <a:extLst>
                    <a:ext uri="{9D8B030D-6E8A-4147-A177-3AD203B41FA5}">
                      <a16:colId xmlns:a16="http://schemas.microsoft.com/office/drawing/2014/main" xmlns="" val="2296955489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Буква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Вопрос для проверки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6873771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Можно реализовать отдельно?</a:t>
                      </a: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575395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Negotiable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Можно обсудить с заказчиком?</a:t>
                      </a: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881229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Valuable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ценность для пользователя?</a:t>
                      </a: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6024746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Estimable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Можно оценить сложность?</a:t>
                      </a: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9280130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Помещается в спринт</a:t>
                      </a:r>
                      <a:r>
                        <a:rPr lang="ru-RU" sz="22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?(две недели)</a:t>
                      </a:r>
                      <a:endParaRPr lang="ru-RU" sz="2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4639831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46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Testable</a:t>
                      </a:r>
                    </a:p>
                  </a:txBody>
                  <a:tcPr marL="140744" marR="140744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критерии приемки?</a:t>
                      </a:r>
                    </a:p>
                  </a:txBody>
                  <a:tcPr marL="140744" marR="84446" marT="87965" marB="8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024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1B1F85-E3EA-34F8-323E-59D8BFC7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46BBABD-5782-3854-1BF7-51B5E23C2985}"/>
              </a:ext>
            </a:extLst>
          </p:cNvPr>
          <p:cNvSpPr txBox="1"/>
          <p:nvPr/>
        </p:nvSpPr>
        <p:spPr>
          <a:xfrm>
            <a:off x="1572" y="0"/>
            <a:ext cx="12190428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Блок 2: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Gherkin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— язык сценариев</a:t>
            </a:r>
          </a:p>
          <a:p>
            <a:pPr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2.1. Объяснение формата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1B35662-2E52-C1AA-A060-C407DA38EF3E}"/>
              </a:ext>
            </a:extLst>
          </p:cNvPr>
          <p:cNvSpPr txBox="1"/>
          <p:nvPr/>
        </p:nvSpPr>
        <p:spPr>
          <a:xfrm>
            <a:off x="0" y="891767"/>
            <a:ext cx="12190428" cy="5074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gherkin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</a:t>
            </a:r>
            <a:r>
              <a:rPr lang="ru-RU" b="0" i="1" dirty="0" err="1">
                <a:solidFill>
                  <a:srgbClr val="A0A1A7"/>
                </a:solidFill>
                <a:effectLst/>
                <a:latin typeface="Menlo"/>
              </a:rPr>
              <a:t>Feature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 — описание функции (опционально, но полезно)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Feature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Авторизация пользователя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As a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registered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user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I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want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log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in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the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system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So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that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I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can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access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my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personal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account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</a:t>
            </a:r>
            <a:r>
              <a:rPr lang="ru-RU" b="0" i="1" dirty="0" err="1">
                <a:solidFill>
                  <a:srgbClr val="A0A1A7"/>
                </a:solidFill>
                <a:effectLst/>
                <a:latin typeface="Menlo"/>
              </a:rPr>
              <a:t>Scenario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 — конкретный сценарий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Успешный вход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находится на странице входа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"user@example.com"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пароль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"password123"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нажимает кнопку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"Войти"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перенаправляется на главную страницу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отображается сообщение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"Добро пожаловать, user@example.com"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Неверный пароль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находится на странице входа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"user@example.com"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пароль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lang="ru-RU" b="0" dirty="0" err="1">
                <a:solidFill>
                  <a:srgbClr val="50A14F"/>
                </a:solidFill>
                <a:effectLst/>
                <a:latin typeface="Menlo"/>
              </a:rPr>
              <a:t>wrongpassword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нажимает кнопку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"Войти"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видит сообщение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"Неверный </a:t>
            </a:r>
            <a:r>
              <a:rPr lang="ru-RU" b="0" dirty="0" err="1">
                <a:solidFill>
                  <a:srgbClr val="50A14F"/>
                </a:solidFill>
                <a:effectLst/>
                <a:latin typeface="Menlo"/>
              </a:rPr>
              <a:t>email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 или пароль"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остаётся на странице входа</a:t>
            </a:r>
          </a:p>
        </p:txBody>
      </p:sp>
    </p:spTree>
    <p:extLst>
      <p:ext uri="{BB962C8B-B14F-4D97-AF65-F5344CB8AC3E}">
        <p14:creationId xmlns:p14="http://schemas.microsoft.com/office/powerpoint/2010/main" val="4913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D572A2-B3FC-AD41-B2A3-667936EF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79BDB5-A0F8-69D4-6664-7E548F945519}"/>
              </a:ext>
            </a:extLst>
          </p:cNvPr>
          <p:cNvSpPr txBox="1"/>
          <p:nvPr/>
        </p:nvSpPr>
        <p:spPr>
          <a:xfrm>
            <a:off x="1572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2.2. Практика: переписываем плохой сценарий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50CEB00-3E7F-3384-86D7-DDC636BE0615}"/>
              </a:ext>
            </a:extLst>
          </p:cNvPr>
          <p:cNvSpPr txBox="1"/>
          <p:nvPr/>
        </p:nvSpPr>
        <p:spPr>
          <a:xfrm>
            <a:off x="0" y="442341"/>
            <a:ext cx="6117996" cy="1368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gherkin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ПЛОХОЙ СЦЕНАРИЙ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Восстановление пароля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забыл пароль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он нажимает восстановить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ему приходит письмо</a:t>
            </a:r>
          </a:p>
        </p:txBody>
      </p:sp>
    </p:spTree>
    <p:extLst>
      <p:ext uri="{BB962C8B-B14F-4D97-AF65-F5344CB8AC3E}">
        <p14:creationId xmlns:p14="http://schemas.microsoft.com/office/powerpoint/2010/main" val="84254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31DAC92-6543-87B0-24D5-531C7989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7E5B4BA-DE62-D3FD-3405-D8A9A85A48C3}"/>
              </a:ext>
            </a:extLst>
          </p:cNvPr>
          <p:cNvSpPr txBox="1"/>
          <p:nvPr/>
        </p:nvSpPr>
        <p:spPr>
          <a:xfrm>
            <a:off x="-1" y="0"/>
            <a:ext cx="12192001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Блок 3: Задание</a:t>
            </a:r>
          </a:p>
          <a:p>
            <a:pPr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3.1. Разбор примера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DB5E2E2-5911-BA68-29B1-F9063BF1EF5F}"/>
              </a:ext>
            </a:extLst>
          </p:cNvPr>
          <p:cNvSpPr txBox="1"/>
          <p:nvPr/>
        </p:nvSpPr>
        <p:spPr>
          <a:xfrm>
            <a:off x="-1" y="569386"/>
            <a:ext cx="6096001" cy="638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gherkin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Feature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Добавление товара в корзину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As a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customer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I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want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add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items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my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shopping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cart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So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that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I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can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purchase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them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dirty="0" err="1">
                <a:solidFill>
                  <a:srgbClr val="0F1115"/>
                </a:solidFill>
                <a:effectLst/>
                <a:latin typeface="Menlo"/>
              </a:rPr>
              <a:t>later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Позитивный сценарий (Happy </a:t>
            </a:r>
            <a:r>
              <a:rPr lang="ru-RU" b="0" i="1" dirty="0" err="1">
                <a:solidFill>
                  <a:srgbClr val="A0A1A7"/>
                </a:solidFill>
                <a:effectLst/>
                <a:latin typeface="Menlo"/>
              </a:rPr>
              <a:t>Path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)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Добавление товара с выбором количества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находится на странице товара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"Ноутбук X1"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товар есть в наличии в количестве 10 штук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количество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"2"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нажимает кнопку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"Добавить в корзину"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в корзину добавляется 2 единицы товара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"Ноутбук X1"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отображается сообщение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"Товар добавлен в корзину"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иконка корзины показывает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"+2"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Негативный сценарий (ошибка)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Попытка добавить больше, чем есть в наличии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находится на странице товара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"Ноутбук X1"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товар есть в наличии в количестве 10 штук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количество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"15"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нажимает кнопку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"Добавить в корзину"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отображается сообщение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"Доступно только 10 штук"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товар не добавляется в корзину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количество в корзине не меняетс</a:t>
            </a:r>
            <a:r>
              <a:rPr lang="ru-RU" dirty="0">
                <a:solidFill>
                  <a:srgbClr val="0F1115"/>
                </a:solidFill>
                <a:latin typeface="Menlo"/>
              </a:rPr>
              <a:t>я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7F6DAD6-01FB-69CE-6E27-654193E605AA}"/>
              </a:ext>
            </a:extLst>
          </p:cNvPr>
          <p:cNvSpPr txBox="1"/>
          <p:nvPr/>
        </p:nvSpPr>
        <p:spPr>
          <a:xfrm>
            <a:off x="6074004" y="836097"/>
            <a:ext cx="611799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# Краевой случай (Edge Case)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ru-RU" b="0" dirty="0" err="1">
                <a:solidFill>
                  <a:srgbClr val="A626A4"/>
                </a:solidFill>
                <a:effectLst/>
                <a:latin typeface="Menlo"/>
              </a:rPr>
              <a:t>Scenario</a:t>
            </a:r>
            <a:r>
              <a:rPr lang="ru-RU" b="0" dirty="0">
                <a:solidFill>
                  <a:srgbClr val="A626A4"/>
                </a:solidFill>
                <a:effectLst/>
                <a:latin typeface="Menlo"/>
              </a:rPr>
              <a:t>:</a:t>
            </a:r>
            <a:r>
              <a:rPr lang="ru-RU" b="0" dirty="0">
                <a:solidFill>
                  <a:srgbClr val="E45649"/>
                </a:solidFill>
                <a:effectLst/>
                <a:latin typeface="Menlo"/>
              </a:rPr>
              <a:t> Добавление товара с нулевым количеством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Given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находится на странице товара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"Ноутбук X1"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When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пользователь вводит количество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"0"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нажимает кнопку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"Добавить в корзину"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 err="1">
                <a:solidFill>
                  <a:srgbClr val="B76B01"/>
                </a:solidFill>
                <a:effectLst/>
                <a:latin typeface="Menlo"/>
              </a:rPr>
              <a:t>Then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отображается сообщение 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"Количество должно быть больше 0"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ru-RU" b="0" dirty="0">
                <a:solidFill>
                  <a:srgbClr val="B76B01"/>
                </a:solidFill>
                <a:effectLst/>
                <a:latin typeface="Menlo"/>
              </a:rPr>
              <a:t>And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товар не добавляется в корзину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910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D0AC89-289C-F34F-ADE3-75447F62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4B5F4BF-D127-ECCB-C437-EDC23717B7C9}"/>
              </a:ext>
            </a:extLst>
          </p:cNvPr>
          <p:cNvSpPr txBox="1"/>
          <p:nvPr/>
        </p:nvSpPr>
        <p:spPr>
          <a:xfrm>
            <a:off x="0" y="0"/>
            <a:ext cx="12192000" cy="5768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3.2. Самостоятельная работа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команда выбирает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одну функцию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из своего проекта и пишет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сценария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Gherkin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Позитивный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happy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— всё идёт по плану.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Негативный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(ошибка) — пользователь ошибается или система не может выполнить действие.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Краевой случай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— граничные значения (0, пустая строка,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максимальное значение).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краевых случаев: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Минимальная сумма заказа = 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Максимальная длина комментария = 500 символов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Пустая корзина при оформлении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Один товар, много товаров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3.3. Проверка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81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ED4712-9B06-318D-13CA-A9B0F078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C262E84-687D-17A7-4C38-C84756DBD940}"/>
              </a:ext>
            </a:extLst>
          </p:cNvPr>
          <p:cNvSpPr txBox="1"/>
          <p:nvPr/>
        </p:nvSpPr>
        <p:spPr>
          <a:xfrm>
            <a:off x="0" y="-2917"/>
            <a:ext cx="12192000" cy="576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4: Презентация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4.1. Демонстрация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2-3 команды показывают свои сценарии на экране.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Остальные студенты должны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угадать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какая функция описывается (без названия).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комментирует корректность.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4.2. Обсуждение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 для обсуждения: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«Какой сценарий был самым сложным в написании?»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«Как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Gherkin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помогает разработчику?»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«Как тестировщик использует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Gherkin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«Можно ли автоматизировать эти сценарии?»</a:t>
            </a:r>
          </a:p>
        </p:txBody>
      </p:sp>
    </p:spTree>
    <p:extLst>
      <p:ext uri="{BB962C8B-B14F-4D97-AF65-F5344CB8AC3E}">
        <p14:creationId xmlns:p14="http://schemas.microsoft.com/office/powerpoint/2010/main" val="402660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B13AE6-DB2D-CF0D-B1D8-2D2EFA2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C7218D4-09D8-5AB1-83EE-B2B8AD5F04E1}"/>
              </a:ext>
            </a:extLst>
          </p:cNvPr>
          <p:cNvSpPr txBox="1"/>
          <p:nvPr/>
        </p:nvSpPr>
        <p:spPr>
          <a:xfrm>
            <a:off x="1572" y="0"/>
            <a:ext cx="12190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Переписать все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своего проекта в формат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Gherkin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(минимум 5 сценариев).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Изучить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Cucumber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Java (или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pytest-bdd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Python) и написать автоматический тест для одного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361093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6289</TotalTime>
  <Words>672</Words>
  <Application>Microsoft Office PowerPoint</Application>
  <PresentationFormat>Широкоэкранный</PresentationFormat>
  <Paragraphs>132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Menlo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Арсентий Абдалов</dc:creator>
  <cp:lastModifiedBy>user</cp:lastModifiedBy>
  <cp:revision>31</cp:revision>
  <dcterms:created xsi:type="dcterms:W3CDTF">2025-09-19T18:20:34Z</dcterms:created>
  <dcterms:modified xsi:type="dcterms:W3CDTF">2026-04-11T06:27:44Z</dcterms:modified>
</cp:coreProperties>
</file>